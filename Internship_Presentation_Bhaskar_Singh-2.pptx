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754880" cy="4754880"/>
          </a:xfrm>
          <a:prstGeom prst="ellipse">
            <a:avLst/>
          </a:prstGeom>
          <a:solidFill>
            <a:srgbClr val="0F3460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4023360" cy="4023360"/>
          </a:xfrm>
          <a:prstGeom prst="ellipse">
            <a:avLst/>
          </a:prstGeom>
          <a:solidFill>
            <a:srgbClr val="E94560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548640"/>
            <a:ext cx="1051560" cy="105156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5" name="Image 0" descr="/home/claude/work/iilm_cres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685800"/>
            <a:ext cx="649224" cy="62927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011680" y="7772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2011680" y="117043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and Engineering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3317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E-Commerce Website with Modern UI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2004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Full Stack Development With Project — Virtual Internship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822960" y="3977640"/>
            <a:ext cx="1051560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1097280" y="42245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1097280" y="449884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Bhaskar Singh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0" y="42245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/ ROLL NO.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0" y="449884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CS-23411470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046720" y="42245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&amp; SEMESTER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8046720" y="449884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— 7th Semester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51206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1097280" y="53949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2026-27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0" y="51206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4572000" y="53949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EduSkills Academy (AICTE — National Internship Portal)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– August 2026   |   8-Week Virtual Internship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947672"/>
            <a:ext cx="822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45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1920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&amp; Organization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226771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program and EduSkills Academy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788920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2907792"/>
            <a:ext cx="822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45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1783080" y="2880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&amp; Objectives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783080" y="32278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an e-commerce platform, and project goals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749040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3867912"/>
            <a:ext cx="822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45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1783080" y="3840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Architecture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783080" y="418795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stack, tools, and system design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709160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4828032"/>
            <a:ext cx="822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45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1783080" y="4800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Features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783080" y="514807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8-week roadmap and platform capabilities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669280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8680" y="5788152"/>
            <a:ext cx="822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45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1783080" y="5760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&amp; Learnings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783080" y="610819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Results, skills gained, and certification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1356848" y="256032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pic>
        <p:nvPicPr>
          <p:cNvPr id="26" name="Image 0" descr="/home/claude/work/iilm_cres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329184"/>
            <a:ext cx="402336" cy="38997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Internship Program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8-week AICTE-approved virtual internship, delivered through the National Internship Portal, giving students structured, hands-on exposure to full stack web development using the MERN stack.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255264"/>
            <a:ext cx="128016" cy="128016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31089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 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Weeks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712464"/>
            <a:ext cx="128016" cy="128016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96112" y="35661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Period:  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– August 2026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4169664"/>
            <a:ext cx="128016" cy="128016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96112" y="40233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Awarded:  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— Outstanding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626864"/>
            <a:ext cx="128016" cy="128016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96112" y="44805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Certifying Body:  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AICTE, Ministry of Education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040880" y="1600200"/>
            <a:ext cx="4480560" cy="4480560"/>
          </a:xfrm>
          <a:prstGeom prst="roundRect">
            <a:avLst>
              <a:gd name="adj" fmla="val 2449"/>
            </a:avLst>
          </a:prstGeom>
          <a:solidFill>
            <a:srgbClr val="16213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040880" y="196596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MERN</a:t>
            </a:r>
            <a:endParaRPr lang="en-US" sz="4200" dirty="0"/>
          </a:p>
        </p:txBody>
      </p:sp>
      <p:sp>
        <p:nvSpPr>
          <p:cNvPr id="15" name="Shape 13"/>
          <p:cNvSpPr/>
          <p:nvPr/>
        </p:nvSpPr>
        <p:spPr>
          <a:xfrm>
            <a:off x="7452360" y="2880360"/>
            <a:ext cx="3657600" cy="566928"/>
          </a:xfrm>
          <a:prstGeom prst="roundRect">
            <a:avLst>
              <a:gd name="adj" fmla="val 12903"/>
            </a:avLst>
          </a:prstGeom>
          <a:solidFill>
            <a:srgbClr val="0F346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452360" y="288036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452360" y="3566160"/>
            <a:ext cx="3657600" cy="566928"/>
          </a:xfrm>
          <a:prstGeom prst="roundRect">
            <a:avLst>
              <a:gd name="adj" fmla="val 12903"/>
            </a:avLst>
          </a:prstGeom>
          <a:solidFill>
            <a:srgbClr val="0F346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452360" y="356616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452360" y="4251960"/>
            <a:ext cx="3657600" cy="566928"/>
          </a:xfrm>
          <a:prstGeom prst="roundRect">
            <a:avLst>
              <a:gd name="adj" fmla="val 12903"/>
            </a:avLst>
          </a:prstGeom>
          <a:solidFill>
            <a:srgbClr val="0F346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452360" y="425196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452360" y="4937760"/>
            <a:ext cx="3657600" cy="566928"/>
          </a:xfrm>
          <a:prstGeom prst="roundRect">
            <a:avLst>
              <a:gd name="adj" fmla="val 12903"/>
            </a:avLst>
          </a:prstGeom>
          <a:solidFill>
            <a:srgbClr val="0F346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452360" y="493776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1356848" y="256032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pic>
        <p:nvPicPr>
          <p:cNvPr id="25" name="Image 0" descr="/home/claude/work/iilm_cres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329184"/>
            <a:ext cx="402336" cy="38997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 Profile — EduSkills Academy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02152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2140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9456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7889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they are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337560"/>
            <a:ext cx="2971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ed-tech organization partnering with AICTE to run industry-aligned virtual internships in emerging technologies.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16552" y="1828800"/>
            <a:ext cx="3502152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90872" y="212140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9456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90872" y="27889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they deliver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690872" y="3337560"/>
            <a:ext cx="2971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weekly modules, live &amp; recorded sessions, hands-on assignments, and a capstone project.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93024" y="1828800"/>
            <a:ext cx="3502152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67344" y="212140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9456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467344" y="27889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recognition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467344" y="3337560"/>
            <a:ext cx="2971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Internships are certified by AICTE, Ministry of Education, via the National Internship Portal.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1356848" y="256032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pic>
        <p:nvPicPr>
          <p:cNvPr id="18" name="Image 0" descr="/home/claude/work/iilm_cres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329184"/>
            <a:ext cx="402336" cy="38997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C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and medium businesses are often priced out of good e-commerce platforms — while customers expect fast, modern, mobile-friendly shopping experiences.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5120640" cy="777240"/>
          </a:xfrm>
          <a:prstGeom prst="roundRect">
            <a:avLst>
              <a:gd name="adj" fmla="val 9412"/>
            </a:avLst>
          </a:prstGeom>
          <a:solidFill>
            <a:srgbClr val="0F3460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3081528"/>
            <a:ext cx="274320" cy="27432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25880" y="283464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or rigid licensing on existing platforms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749040"/>
            <a:ext cx="5120640" cy="777240"/>
          </a:xfrm>
          <a:prstGeom prst="roundRect">
            <a:avLst>
              <a:gd name="adj" fmla="val 9412"/>
            </a:avLst>
          </a:prstGeom>
          <a:solidFill>
            <a:srgbClr val="0F3460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3995928"/>
            <a:ext cx="274320" cy="27432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325880" y="374904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Outdated, non-responsive user interfaces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4663440"/>
            <a:ext cx="5120640" cy="777240"/>
          </a:xfrm>
          <a:prstGeom prst="roundRect">
            <a:avLst>
              <a:gd name="adj" fmla="val 9412"/>
            </a:avLst>
          </a:prstGeom>
          <a:solidFill>
            <a:srgbClr val="0F3460"/>
          </a:solidFill>
          <a:ln/>
        </p:spPr>
      </p:sp>
      <p:sp>
        <p:nvSpPr>
          <p:cNvPr id="12" name="Shape 10"/>
          <p:cNvSpPr/>
          <p:nvPr/>
        </p:nvSpPr>
        <p:spPr>
          <a:xfrm>
            <a:off x="868680" y="4910328"/>
            <a:ext cx="274320" cy="27432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25880" y="466344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to customize for a specific brand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5577840"/>
            <a:ext cx="5120640" cy="777240"/>
          </a:xfrm>
          <a:prstGeom prst="roundRect">
            <a:avLst>
              <a:gd name="adj" fmla="val 9412"/>
            </a:avLst>
          </a:prstGeom>
          <a:solidFill>
            <a:srgbClr val="0F3460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5824728"/>
            <a:ext cx="274320" cy="27432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325880" y="557784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cart, checkout, and order-tracking experience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26480" y="2834640"/>
            <a:ext cx="539496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46520" y="3108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45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Goal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3520440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build a full-featured, cost-effective e-commerce web application with a modern, clean, responsive UI — covering product discovery, cart, wishlist, checkout, and an admin panel — on a scalable full stack JavaScript architecture.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1356848" y="256032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pic>
        <p:nvPicPr>
          <p:cNvPr id="22" name="Image 0" descr="/home/claude/work/iilm_cres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329184"/>
            <a:ext cx="402336" cy="38997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202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828800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responsive, modern e-commerce interface using React.js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80760" y="169164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19202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0936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1828800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secure, scalable back end with Node.js &amp; Express.js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20040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4290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3337560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flexible NoSQL data model in MongoDB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80760" y="320040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34290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0936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949440" y="3337560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authentication &amp; authorization using JWT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70916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49377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6868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508760" y="4846320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core shopping features: catalogue, cart, wishlist, checkout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080760" y="470916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09360" y="49377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30936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949440" y="4846320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an admin dashboard for products, orders &amp; users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1356848" y="256032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pic>
        <p:nvPicPr>
          <p:cNvPr id="30" name="Image 0" descr="/home/claude/work/iilm_cres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329184"/>
            <a:ext cx="402336" cy="38997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of the Project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03520" cy="4023360"/>
          </a:xfrm>
          <a:prstGeom prst="roundRect">
            <a:avLst>
              <a:gd name="adj" fmla="val 2727"/>
            </a:avLst>
          </a:prstGeom>
          <a:solidFill>
            <a:srgbClr val="EAF7E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8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SCOPE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4688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Customer browsing, search &amp; category filters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09067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Cart, wishlist &amp; multi-step checkout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71246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Secure registration, login &amp; role-based access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433425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Admin: product, category, order &amp; user management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495604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Payment gateway integration (test mode)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1737360"/>
            <a:ext cx="5285232" cy="4023360"/>
          </a:xfrm>
          <a:prstGeom prst="roundRect">
            <a:avLst>
              <a:gd name="adj" fmla="val 2727"/>
            </a:avLst>
          </a:prstGeom>
          <a:solidFill>
            <a:srgbClr val="FDECE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0" y="1965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45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 OF SCOPE (Future Work)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4688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Multi-vendor marketplace functionality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309067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Live, certified third-party payment gateway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371246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Production-scale deployment with load balancing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1356848" y="256032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pic>
        <p:nvPicPr>
          <p:cNvPr id="18" name="Image 0" descr="/home/claude/work/iilm_cres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329184"/>
            <a:ext cx="402336" cy="38997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 &amp; Tools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587752" cy="4069080"/>
          </a:xfrm>
          <a:prstGeom prst="roundRect">
            <a:avLst>
              <a:gd name="adj" fmla="val 3534"/>
            </a:avLst>
          </a:prstGeom>
          <a:solidFill>
            <a:srgbClr val="1621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45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 End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514600"/>
            <a:ext cx="2221992" cy="502920"/>
          </a:xfrm>
          <a:prstGeom prst="roundRect">
            <a:avLst>
              <a:gd name="adj" fmla="val 10909"/>
            </a:avLst>
          </a:prstGeom>
          <a:solidFill>
            <a:srgbClr val="0F346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514600"/>
            <a:ext cx="2221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22960" y="3136392"/>
            <a:ext cx="2221992" cy="502920"/>
          </a:xfrm>
          <a:prstGeom prst="roundRect">
            <a:avLst>
              <a:gd name="adj" fmla="val 10909"/>
            </a:avLst>
          </a:prstGeom>
          <a:solidFill>
            <a:srgbClr val="0F346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3136392"/>
            <a:ext cx="2221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" y="3758184"/>
            <a:ext cx="2221992" cy="502920"/>
          </a:xfrm>
          <a:prstGeom prst="roundRect">
            <a:avLst>
              <a:gd name="adj" fmla="val 10909"/>
            </a:avLst>
          </a:prstGeom>
          <a:solidFill>
            <a:srgbClr val="0F346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3758184"/>
            <a:ext cx="2221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Redux Toolkit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4379976"/>
            <a:ext cx="2221992" cy="502920"/>
          </a:xfrm>
          <a:prstGeom prst="roundRect">
            <a:avLst>
              <a:gd name="adj" fmla="val 10909"/>
            </a:avLst>
          </a:prstGeom>
          <a:solidFill>
            <a:srgbClr val="0F346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379976"/>
            <a:ext cx="2221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410712" y="1737360"/>
            <a:ext cx="2587752" cy="4069080"/>
          </a:xfrm>
          <a:prstGeom prst="roundRect">
            <a:avLst>
              <a:gd name="adj" fmla="val 3534"/>
            </a:avLst>
          </a:prstGeom>
          <a:solidFill>
            <a:srgbClr val="16213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593592" y="1965960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45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 End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593592" y="2514600"/>
            <a:ext cx="2221992" cy="502920"/>
          </a:xfrm>
          <a:prstGeom prst="roundRect">
            <a:avLst>
              <a:gd name="adj" fmla="val 10909"/>
            </a:avLst>
          </a:prstGeom>
          <a:solidFill>
            <a:srgbClr val="0F346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593592" y="2514600"/>
            <a:ext cx="2221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593592" y="3136392"/>
            <a:ext cx="2221992" cy="502920"/>
          </a:xfrm>
          <a:prstGeom prst="roundRect">
            <a:avLst>
              <a:gd name="adj" fmla="val 10909"/>
            </a:avLst>
          </a:prstGeom>
          <a:solidFill>
            <a:srgbClr val="0F346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593592" y="3136392"/>
            <a:ext cx="2221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593592" y="3758184"/>
            <a:ext cx="2221992" cy="502920"/>
          </a:xfrm>
          <a:prstGeom prst="roundRect">
            <a:avLst>
              <a:gd name="adj" fmla="val 10909"/>
            </a:avLst>
          </a:prstGeom>
          <a:solidFill>
            <a:srgbClr val="0F346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593592" y="3758184"/>
            <a:ext cx="2221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593592" y="4379976"/>
            <a:ext cx="2221992" cy="502920"/>
          </a:xfrm>
          <a:prstGeom prst="roundRect">
            <a:avLst>
              <a:gd name="adj" fmla="val 10909"/>
            </a:avLst>
          </a:prstGeom>
          <a:solidFill>
            <a:srgbClr val="0F346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593592" y="4379976"/>
            <a:ext cx="2221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81344" y="1737360"/>
            <a:ext cx="2587752" cy="4069080"/>
          </a:xfrm>
          <a:prstGeom prst="roundRect">
            <a:avLst>
              <a:gd name="adj" fmla="val 3534"/>
            </a:avLst>
          </a:prstGeom>
          <a:solidFill>
            <a:srgbClr val="16213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364224" y="1965960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45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Media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364224" y="2514600"/>
            <a:ext cx="2221992" cy="502920"/>
          </a:xfrm>
          <a:prstGeom prst="roundRect">
            <a:avLst>
              <a:gd name="adj" fmla="val 10909"/>
            </a:avLst>
          </a:prstGeom>
          <a:solidFill>
            <a:srgbClr val="0F346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364224" y="2514600"/>
            <a:ext cx="2221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364224" y="3136392"/>
            <a:ext cx="2221992" cy="502920"/>
          </a:xfrm>
          <a:prstGeom prst="roundRect">
            <a:avLst>
              <a:gd name="adj" fmla="val 10909"/>
            </a:avLst>
          </a:prstGeom>
          <a:solidFill>
            <a:srgbClr val="0F346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364224" y="3136392"/>
            <a:ext cx="2221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ODM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364224" y="3758184"/>
            <a:ext cx="2221992" cy="502920"/>
          </a:xfrm>
          <a:prstGeom prst="roundRect">
            <a:avLst>
              <a:gd name="adj" fmla="val 10909"/>
            </a:avLst>
          </a:prstGeom>
          <a:solidFill>
            <a:srgbClr val="0F346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364224" y="3758184"/>
            <a:ext cx="2221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951976" y="1737360"/>
            <a:ext cx="2587752" cy="4069080"/>
          </a:xfrm>
          <a:prstGeom prst="roundRect">
            <a:avLst>
              <a:gd name="adj" fmla="val 3534"/>
            </a:avLst>
          </a:prstGeom>
          <a:solidFill>
            <a:srgbClr val="16213E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134856" y="1965960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45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 Tools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9134856" y="2514600"/>
            <a:ext cx="2221992" cy="502920"/>
          </a:xfrm>
          <a:prstGeom prst="roundRect">
            <a:avLst>
              <a:gd name="adj" fmla="val 10909"/>
            </a:avLst>
          </a:prstGeom>
          <a:solidFill>
            <a:srgbClr val="0F3460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134856" y="2514600"/>
            <a:ext cx="2221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9134856" y="3136392"/>
            <a:ext cx="2221992" cy="502920"/>
          </a:xfrm>
          <a:prstGeom prst="roundRect">
            <a:avLst>
              <a:gd name="adj" fmla="val 10909"/>
            </a:avLst>
          </a:prstGeom>
          <a:solidFill>
            <a:srgbClr val="0F3460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134856" y="3136392"/>
            <a:ext cx="2221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9134856" y="3758184"/>
            <a:ext cx="2221992" cy="502920"/>
          </a:xfrm>
          <a:prstGeom prst="roundRect">
            <a:avLst>
              <a:gd name="adj" fmla="val 10909"/>
            </a:avLst>
          </a:prstGeom>
          <a:solidFill>
            <a:srgbClr val="0F3460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134856" y="3758184"/>
            <a:ext cx="2221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1356848" y="256032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pic>
        <p:nvPicPr>
          <p:cNvPr id="42" name="Image 0" descr="/home/claude/work/iilm_cres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329184"/>
            <a:ext cx="402336" cy="38997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— Three-Tier Design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371600" y="1783080"/>
            <a:ext cx="9418320" cy="1234440"/>
          </a:xfrm>
          <a:prstGeom prst="roundRect">
            <a:avLst>
              <a:gd name="adj" fmla="val 7407"/>
            </a:avLst>
          </a:prstGeom>
          <a:solidFill>
            <a:srgbClr val="1621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691640" y="1920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Layer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24048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· Tailwind CSS · Redux Toolkit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486400" y="1783080"/>
            <a:ext cx="5074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UI, handles user interaction &amp; client-side routing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 rot="10800000">
            <a:off x="5806440" y="2761488"/>
            <a:ext cx="274320" cy="256032"/>
          </a:xfrm>
          <a:prstGeom prst="triangle">
            <a:avLst/>
          </a:prstGeom>
          <a:solidFill>
            <a:srgbClr val="E94560"/>
          </a:solidFill>
          <a:ln/>
        </p:spPr>
      </p:sp>
      <p:sp>
        <p:nvSpPr>
          <p:cNvPr id="9" name="Shape 7"/>
          <p:cNvSpPr/>
          <p:nvPr/>
        </p:nvSpPr>
        <p:spPr>
          <a:xfrm>
            <a:off x="1371600" y="3273552"/>
            <a:ext cx="9418320" cy="1234440"/>
          </a:xfrm>
          <a:prstGeom prst="roundRect">
            <a:avLst>
              <a:gd name="adj" fmla="val 7407"/>
            </a:avLst>
          </a:prstGeom>
          <a:solidFill>
            <a:srgbClr val="0F346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691640" y="341071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Layer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389534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Express.js · JWT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0" y="3273552"/>
            <a:ext cx="5074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REST APIs, business logic, authentication &amp; validation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 rot="10800000">
            <a:off x="5806440" y="4251960"/>
            <a:ext cx="274320" cy="256032"/>
          </a:xfrm>
          <a:prstGeom prst="triangle">
            <a:avLst/>
          </a:prstGeom>
          <a:solidFill>
            <a:srgbClr val="E94560"/>
          </a:solidFill>
          <a:ln/>
        </p:spPr>
      </p:sp>
      <p:sp>
        <p:nvSpPr>
          <p:cNvPr id="14" name="Shape 12"/>
          <p:cNvSpPr/>
          <p:nvPr/>
        </p:nvSpPr>
        <p:spPr>
          <a:xfrm>
            <a:off x="1371600" y="4764024"/>
            <a:ext cx="9418320" cy="1234440"/>
          </a:xfrm>
          <a:prstGeom prst="roundRect">
            <a:avLst>
              <a:gd name="adj" fmla="val 7407"/>
            </a:avLst>
          </a:prstGeom>
          <a:solidFill>
            <a:srgbClr val="16213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691640" y="490118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Layer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691640" y="538581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· Mongoose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0" y="4764024"/>
            <a:ext cx="5074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&amp; retrieves users, products, carts, and orders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1356848" y="256032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pic>
        <p:nvPicPr>
          <p:cNvPr id="20" name="Image 0" descr="/home/claude/work/iilm_cres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329184"/>
            <a:ext cx="402336" cy="38997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Methodology — 8-Week Roadmap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709928" y="2331720"/>
            <a:ext cx="9034272" cy="0"/>
          </a:xfrm>
          <a:prstGeom prst="line">
            <a:avLst/>
          </a:prstGeom>
          <a:noFill/>
          <a:ln w="3810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54480" y="2176272"/>
            <a:ext cx="310896" cy="310896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651760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W1–2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200400"/>
            <a:ext cx="2139696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337560"/>
            <a:ext cx="18653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Orientation, MERN fundamentals, planning &amp; schema design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813048" y="2176272"/>
            <a:ext cx="310896" cy="310896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98648" y="2651760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W3–4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898648" y="3200400"/>
            <a:ext cx="2139696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035808" y="3337560"/>
            <a:ext cx="18653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Back-end: REST APIs, MongoDB models, JWT auth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71616" y="2176272"/>
            <a:ext cx="310896" cy="310896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57216" y="2651760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W5–6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157216" y="3200400"/>
            <a:ext cx="2139696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294376" y="3337560"/>
            <a:ext cx="18653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Front-end: React components, routing, state, UI integration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330184" y="2176272"/>
            <a:ext cx="310896" cy="310896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15784" y="2651760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W7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415784" y="3200400"/>
            <a:ext cx="2139696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52944" y="3337560"/>
            <a:ext cx="18653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Cart, checkout, payment integration &amp; admin dashboard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0588752" y="2176272"/>
            <a:ext cx="310896" cy="310896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674352" y="2651760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W8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674352" y="3200400"/>
            <a:ext cx="2139696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811512" y="3337560"/>
            <a:ext cx="18653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polishing, deployment prep &amp; final presentation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1356848" y="256032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pic>
        <p:nvPicPr>
          <p:cNvPr id="27" name="Image 0" descr="/home/claude/work/iilm_cres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329184"/>
            <a:ext cx="402336" cy="38997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Platform Features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290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96596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16213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26060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Catalogue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99923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category filters &amp; detailed product pages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1737360"/>
            <a:ext cx="34290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53712" y="196596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0F346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53712" y="26060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 &amp; Wishlist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53712" y="299923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cart with a smooth multi-step checkout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955280" y="1737360"/>
            <a:ext cx="34290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11312" y="196596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E9456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11312" y="26060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Accounts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11312" y="299923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 registration, login &amp; role-based access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886200"/>
            <a:ext cx="34290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96112" y="411480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16213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96112" y="47548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Management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96112" y="514807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placement, summary &amp; status tracking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97680" y="3886200"/>
            <a:ext cx="34290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53712" y="411480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0F346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553712" y="47548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Dashboard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53712" y="514807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update &amp; remove products; manage orders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955280" y="3886200"/>
            <a:ext cx="34290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11312" y="411480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E9456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11312" y="47548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Integration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211312" y="514807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/ Stripe test-mode checkout flow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1356848" y="256032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pic>
        <p:nvPicPr>
          <p:cNvPr id="30" name="Image 0" descr="/home/claude/work/iilm_cres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329184"/>
            <a:ext cx="402336" cy="38997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C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Modern, Responsive Shopping Experience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64922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691640"/>
            <a:ext cx="6492240" cy="411480"/>
          </a:xfrm>
          <a:prstGeom prst="rect">
            <a:avLst/>
          </a:prstGeom>
          <a:solidFill>
            <a:srgbClr val="EEF1F8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1828800"/>
            <a:ext cx="137160" cy="13716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7" name="Shape 5"/>
          <p:cNvSpPr/>
          <p:nvPr/>
        </p:nvSpPr>
        <p:spPr>
          <a:xfrm>
            <a:off x="1261872" y="1828800"/>
            <a:ext cx="137160" cy="137160"/>
          </a:xfrm>
          <a:prstGeom prst="ellipse">
            <a:avLst/>
          </a:prstGeom>
          <a:solidFill>
            <a:srgbClr val="F5C542"/>
          </a:solidFill>
          <a:ln/>
        </p:spPr>
      </p:sp>
      <p:sp>
        <p:nvSpPr>
          <p:cNvPr id="8" name="Shape 6"/>
          <p:cNvSpPr/>
          <p:nvPr/>
        </p:nvSpPr>
        <p:spPr>
          <a:xfrm>
            <a:off x="1517904" y="1828800"/>
            <a:ext cx="137160" cy="137160"/>
          </a:xfrm>
          <a:prstGeom prst="ellipse">
            <a:avLst/>
          </a:prstGeom>
          <a:solidFill>
            <a:srgbClr val="1B8A4A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0" y="1783080"/>
            <a:ext cx="3383280" cy="228600"/>
          </a:xfrm>
          <a:prstGeom prst="roundRect">
            <a:avLst>
              <a:gd name="adj" fmla="val 480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2286000"/>
            <a:ext cx="1920240" cy="1691640"/>
          </a:xfrm>
          <a:prstGeom prst="roundRect">
            <a:avLst>
              <a:gd name="adj" fmla="val 3243"/>
            </a:avLst>
          </a:prstGeom>
          <a:solidFill>
            <a:srgbClr val="F7F8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07008" y="2395728"/>
            <a:ext cx="1700784" cy="960120"/>
          </a:xfrm>
          <a:prstGeom prst="rect">
            <a:avLst/>
          </a:prstGeom>
          <a:solidFill>
            <a:srgbClr val="DCE3F0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7008" y="3456432"/>
            <a:ext cx="1371600" cy="118872"/>
          </a:xfrm>
          <a:prstGeom prst="rect">
            <a:avLst/>
          </a:prstGeom>
          <a:solidFill>
            <a:srgbClr val="C3CBDD"/>
          </a:solidFill>
          <a:ln/>
        </p:spPr>
      </p:sp>
      <p:sp>
        <p:nvSpPr>
          <p:cNvPr id="13" name="Shape 11"/>
          <p:cNvSpPr/>
          <p:nvPr/>
        </p:nvSpPr>
        <p:spPr>
          <a:xfrm>
            <a:off x="2450592" y="3438144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E94560"/>
          </a:solidFill>
          <a:ln/>
        </p:spPr>
      </p:sp>
      <p:sp>
        <p:nvSpPr>
          <p:cNvPr id="14" name="Shape 12"/>
          <p:cNvSpPr/>
          <p:nvPr/>
        </p:nvSpPr>
        <p:spPr>
          <a:xfrm>
            <a:off x="3182112" y="2286000"/>
            <a:ext cx="1920240" cy="1691640"/>
          </a:xfrm>
          <a:prstGeom prst="roundRect">
            <a:avLst>
              <a:gd name="adj" fmla="val 3243"/>
            </a:avLst>
          </a:prstGeom>
          <a:solidFill>
            <a:srgbClr val="F7F8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2395728"/>
            <a:ext cx="1700784" cy="960120"/>
          </a:xfrm>
          <a:prstGeom prst="rect">
            <a:avLst/>
          </a:prstGeom>
          <a:solidFill>
            <a:srgbClr val="DCE3F0"/>
          </a:solidFill>
          <a:ln/>
        </p:spPr>
      </p:sp>
      <p:sp>
        <p:nvSpPr>
          <p:cNvPr id="16" name="Shape 14"/>
          <p:cNvSpPr/>
          <p:nvPr/>
        </p:nvSpPr>
        <p:spPr>
          <a:xfrm>
            <a:off x="3291840" y="3456432"/>
            <a:ext cx="1371600" cy="118872"/>
          </a:xfrm>
          <a:prstGeom prst="rect">
            <a:avLst/>
          </a:prstGeom>
          <a:solidFill>
            <a:srgbClr val="C3CBDD"/>
          </a:solidFill>
          <a:ln/>
        </p:spPr>
      </p:sp>
      <p:sp>
        <p:nvSpPr>
          <p:cNvPr id="17" name="Shape 15"/>
          <p:cNvSpPr/>
          <p:nvPr/>
        </p:nvSpPr>
        <p:spPr>
          <a:xfrm>
            <a:off x="4535424" y="3438144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E94560"/>
          </a:solidFill>
          <a:ln/>
        </p:spPr>
      </p:sp>
      <p:sp>
        <p:nvSpPr>
          <p:cNvPr id="18" name="Shape 16"/>
          <p:cNvSpPr/>
          <p:nvPr/>
        </p:nvSpPr>
        <p:spPr>
          <a:xfrm>
            <a:off x="5266944" y="2286000"/>
            <a:ext cx="1920240" cy="1691640"/>
          </a:xfrm>
          <a:prstGeom prst="roundRect">
            <a:avLst>
              <a:gd name="adj" fmla="val 3243"/>
            </a:avLst>
          </a:prstGeom>
          <a:solidFill>
            <a:srgbClr val="F7F8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76672" y="2395728"/>
            <a:ext cx="1700784" cy="960120"/>
          </a:xfrm>
          <a:prstGeom prst="rect">
            <a:avLst/>
          </a:prstGeom>
          <a:solidFill>
            <a:srgbClr val="DCE3F0"/>
          </a:solidFill>
          <a:ln/>
        </p:spPr>
      </p:sp>
      <p:sp>
        <p:nvSpPr>
          <p:cNvPr id="20" name="Shape 18"/>
          <p:cNvSpPr/>
          <p:nvPr/>
        </p:nvSpPr>
        <p:spPr>
          <a:xfrm>
            <a:off x="5376672" y="3456432"/>
            <a:ext cx="1371600" cy="118872"/>
          </a:xfrm>
          <a:prstGeom prst="rect">
            <a:avLst/>
          </a:prstGeom>
          <a:solidFill>
            <a:srgbClr val="C3CBDD"/>
          </a:solidFill>
          <a:ln/>
        </p:spPr>
      </p:sp>
      <p:sp>
        <p:nvSpPr>
          <p:cNvPr id="21" name="Shape 19"/>
          <p:cNvSpPr/>
          <p:nvPr/>
        </p:nvSpPr>
        <p:spPr>
          <a:xfrm>
            <a:off x="6620256" y="3438144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E94560"/>
          </a:solidFill>
          <a:ln/>
        </p:spPr>
      </p:sp>
      <p:sp>
        <p:nvSpPr>
          <p:cNvPr id="22" name="Shape 20"/>
          <p:cNvSpPr/>
          <p:nvPr/>
        </p:nvSpPr>
        <p:spPr>
          <a:xfrm>
            <a:off x="1097280" y="4142232"/>
            <a:ext cx="1920240" cy="1691640"/>
          </a:xfrm>
          <a:prstGeom prst="roundRect">
            <a:avLst>
              <a:gd name="adj" fmla="val 3243"/>
            </a:avLst>
          </a:prstGeom>
          <a:solidFill>
            <a:srgbClr val="F7F8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07008" y="4251960"/>
            <a:ext cx="1700784" cy="960120"/>
          </a:xfrm>
          <a:prstGeom prst="rect">
            <a:avLst/>
          </a:prstGeom>
          <a:solidFill>
            <a:srgbClr val="DCE3F0"/>
          </a:solidFill>
          <a:ln/>
        </p:spPr>
      </p:sp>
      <p:sp>
        <p:nvSpPr>
          <p:cNvPr id="24" name="Shape 22"/>
          <p:cNvSpPr/>
          <p:nvPr/>
        </p:nvSpPr>
        <p:spPr>
          <a:xfrm>
            <a:off x="1207008" y="5312664"/>
            <a:ext cx="1371600" cy="118872"/>
          </a:xfrm>
          <a:prstGeom prst="rect">
            <a:avLst/>
          </a:prstGeom>
          <a:solidFill>
            <a:srgbClr val="C3CBDD"/>
          </a:solidFill>
          <a:ln/>
        </p:spPr>
      </p:sp>
      <p:sp>
        <p:nvSpPr>
          <p:cNvPr id="25" name="Shape 23"/>
          <p:cNvSpPr/>
          <p:nvPr/>
        </p:nvSpPr>
        <p:spPr>
          <a:xfrm>
            <a:off x="2450592" y="5294376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E94560"/>
          </a:solidFill>
          <a:ln/>
        </p:spPr>
      </p:sp>
      <p:sp>
        <p:nvSpPr>
          <p:cNvPr id="26" name="Shape 24"/>
          <p:cNvSpPr/>
          <p:nvPr/>
        </p:nvSpPr>
        <p:spPr>
          <a:xfrm>
            <a:off x="3182112" y="4142232"/>
            <a:ext cx="1920240" cy="1691640"/>
          </a:xfrm>
          <a:prstGeom prst="roundRect">
            <a:avLst>
              <a:gd name="adj" fmla="val 3243"/>
            </a:avLst>
          </a:prstGeom>
          <a:solidFill>
            <a:srgbClr val="F7F8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91840" y="4251960"/>
            <a:ext cx="1700784" cy="960120"/>
          </a:xfrm>
          <a:prstGeom prst="rect">
            <a:avLst/>
          </a:prstGeom>
          <a:solidFill>
            <a:srgbClr val="DCE3F0"/>
          </a:solidFill>
          <a:ln/>
        </p:spPr>
      </p:sp>
      <p:sp>
        <p:nvSpPr>
          <p:cNvPr id="28" name="Shape 26"/>
          <p:cNvSpPr/>
          <p:nvPr/>
        </p:nvSpPr>
        <p:spPr>
          <a:xfrm>
            <a:off x="3291840" y="5312664"/>
            <a:ext cx="1371600" cy="118872"/>
          </a:xfrm>
          <a:prstGeom prst="rect">
            <a:avLst/>
          </a:prstGeom>
          <a:solidFill>
            <a:srgbClr val="C3CBDD"/>
          </a:solidFill>
          <a:ln/>
        </p:spPr>
      </p:sp>
      <p:sp>
        <p:nvSpPr>
          <p:cNvPr id="29" name="Shape 27"/>
          <p:cNvSpPr/>
          <p:nvPr/>
        </p:nvSpPr>
        <p:spPr>
          <a:xfrm>
            <a:off x="4535424" y="5294376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E94560"/>
          </a:solidFill>
          <a:ln/>
        </p:spPr>
      </p:sp>
      <p:sp>
        <p:nvSpPr>
          <p:cNvPr id="30" name="Shape 28"/>
          <p:cNvSpPr/>
          <p:nvPr/>
        </p:nvSpPr>
        <p:spPr>
          <a:xfrm>
            <a:off x="5266944" y="4142232"/>
            <a:ext cx="1920240" cy="1691640"/>
          </a:xfrm>
          <a:prstGeom prst="roundRect">
            <a:avLst>
              <a:gd name="adj" fmla="val 3243"/>
            </a:avLst>
          </a:prstGeom>
          <a:solidFill>
            <a:srgbClr val="F7F8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76672" y="4251960"/>
            <a:ext cx="1700784" cy="960120"/>
          </a:xfrm>
          <a:prstGeom prst="rect">
            <a:avLst/>
          </a:prstGeom>
          <a:solidFill>
            <a:srgbClr val="DCE3F0"/>
          </a:solidFill>
          <a:ln/>
        </p:spPr>
      </p:sp>
      <p:sp>
        <p:nvSpPr>
          <p:cNvPr id="32" name="Shape 30"/>
          <p:cNvSpPr/>
          <p:nvPr/>
        </p:nvSpPr>
        <p:spPr>
          <a:xfrm>
            <a:off x="5376672" y="5312664"/>
            <a:ext cx="1371600" cy="118872"/>
          </a:xfrm>
          <a:prstGeom prst="rect">
            <a:avLst/>
          </a:prstGeom>
          <a:solidFill>
            <a:srgbClr val="C3CBDD"/>
          </a:solidFill>
          <a:ln/>
        </p:spPr>
      </p:sp>
      <p:sp>
        <p:nvSpPr>
          <p:cNvPr id="33" name="Shape 31"/>
          <p:cNvSpPr/>
          <p:nvPr/>
        </p:nvSpPr>
        <p:spPr>
          <a:xfrm>
            <a:off x="6620256" y="5294376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E94560"/>
          </a:solidFill>
          <a:ln/>
        </p:spPr>
      </p:sp>
      <p:sp>
        <p:nvSpPr>
          <p:cNvPr id="34" name="Shape 32"/>
          <p:cNvSpPr/>
          <p:nvPr/>
        </p:nvSpPr>
        <p:spPr>
          <a:xfrm>
            <a:off x="7635240" y="1828800"/>
            <a:ext cx="146304" cy="146304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909560" y="167335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Product Grid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7909560" y="203911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Card-based layout with clear visual hierarchy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635240" y="2907792"/>
            <a:ext cx="146304" cy="146304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7909560" y="275234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Search &amp; Filters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7909560" y="311810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products in seconds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635240" y="3986784"/>
            <a:ext cx="146304" cy="146304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7909560" y="383133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Add to Cart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7909560" y="419709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Frictionless path from browse to buy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635240" y="5065776"/>
            <a:ext cx="146304" cy="146304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7909560" y="49103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Responsive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7909560" y="52760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for mobile, tablet &amp; desktop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1356848" y="256032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pic>
        <p:nvPicPr>
          <p:cNvPr id="48" name="Image 0" descr="/home/claude/work/iilm_cres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329184"/>
            <a:ext cx="402336" cy="38997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Outcomes Achieved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929384"/>
            <a:ext cx="237744" cy="237744"/>
          </a:xfrm>
          <a:prstGeom prst="ellipse">
            <a:avLst/>
          </a:prstGeom>
          <a:solidFill>
            <a:srgbClr val="1B8A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71600" y="1737360"/>
            <a:ext cx="9875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functional, responsive e-commerce website with a modern UI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450592"/>
            <a:ext cx="10881360" cy="621792"/>
          </a:xfrm>
          <a:prstGeom prst="roundRect">
            <a:avLst>
              <a:gd name="adj" fmla="val 8824"/>
            </a:avLst>
          </a:prstGeom>
          <a:solidFill>
            <a:srgbClr val="EEF1F8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2642616"/>
            <a:ext cx="237744" cy="237744"/>
          </a:xfrm>
          <a:prstGeom prst="ellipse">
            <a:avLst/>
          </a:prstGeom>
          <a:solidFill>
            <a:srgbClr val="1B8A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71600" y="2450592"/>
            <a:ext cx="9875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authentication with JWT-based session handling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163824"/>
            <a:ext cx="1088136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3355848"/>
            <a:ext cx="237744" cy="237744"/>
          </a:xfrm>
          <a:prstGeom prst="ellipse">
            <a:avLst/>
          </a:prstGeom>
          <a:solidFill>
            <a:srgbClr val="1B8A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371600" y="3163824"/>
            <a:ext cx="9875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shopping flow: catalogue → cart → checkout → order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877056"/>
            <a:ext cx="10881360" cy="621792"/>
          </a:xfrm>
          <a:prstGeom prst="roundRect">
            <a:avLst>
              <a:gd name="adj" fmla="val 8824"/>
            </a:avLst>
          </a:prstGeom>
          <a:solidFill>
            <a:srgbClr val="EEF1F8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4069080"/>
            <a:ext cx="237744" cy="237744"/>
          </a:xfrm>
          <a:prstGeom prst="ellipse">
            <a:avLst/>
          </a:prstGeom>
          <a:solidFill>
            <a:srgbClr val="1B8A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371600" y="3877056"/>
            <a:ext cx="9875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for product &amp; order management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590288"/>
            <a:ext cx="1088136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" y="4782312"/>
            <a:ext cx="237744" cy="237744"/>
          </a:xfrm>
          <a:prstGeom prst="ellipse">
            <a:avLst/>
          </a:prstGeom>
          <a:solidFill>
            <a:srgbClr val="1B8A4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371600" y="4590288"/>
            <a:ext cx="9875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 layer tested end-to-end with Postman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5303520"/>
            <a:ext cx="10881360" cy="621792"/>
          </a:xfrm>
          <a:prstGeom prst="roundRect">
            <a:avLst>
              <a:gd name="adj" fmla="val 8824"/>
            </a:avLst>
          </a:prstGeom>
          <a:solidFill>
            <a:srgbClr val="EEF1F8"/>
          </a:solidFill>
          <a:ln/>
        </p:spPr>
      </p:sp>
      <p:sp>
        <p:nvSpPr>
          <p:cNvPr id="20" name="Shape 18"/>
          <p:cNvSpPr/>
          <p:nvPr/>
        </p:nvSpPr>
        <p:spPr>
          <a:xfrm>
            <a:off x="914400" y="5495544"/>
            <a:ext cx="237744" cy="237744"/>
          </a:xfrm>
          <a:prstGeom prst="ellipse">
            <a:avLst/>
          </a:prstGeom>
          <a:solidFill>
            <a:srgbClr val="1B8A4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371600" y="5303520"/>
            <a:ext cx="9875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experience with the full MERN development workflow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1356848" y="256032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pic>
        <p:nvPicPr>
          <p:cNvPr id="24" name="Image 0" descr="/home/claude/work/iilm_cres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329184"/>
            <a:ext cx="402336" cy="38997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&amp; Learnings Gained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3931920"/>
          </a:xfrm>
          <a:prstGeom prst="roundRect">
            <a:avLst>
              <a:gd name="adj" fmla="val 2791"/>
            </a:avLst>
          </a:prstGeom>
          <a:solidFill>
            <a:srgbClr val="1621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205740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45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Skills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60120" y="2816352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234440" y="265176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JavaScript development (MERN)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60120" y="3593592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234440" y="342900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design &amp; database modelling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60120" y="4370832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234440" y="420624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security practices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1783080"/>
            <a:ext cx="5349240" cy="3931920"/>
          </a:xfrm>
          <a:prstGeom prst="roundRect">
            <a:avLst>
              <a:gd name="adj" fmla="val 2791"/>
            </a:avLst>
          </a:prstGeom>
          <a:solidFill>
            <a:srgbClr val="16213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83680" y="205740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45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Professional Skills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583680" y="2816352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0" y="265176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Agile, sprint-based project execution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83680" y="3593592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0" y="342900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&amp; collaborative workflows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83680" y="4370832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58000" y="420624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Debugging, testing &amp; deployment readiness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1356848" y="256032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pic>
        <p:nvPicPr>
          <p:cNvPr id="22" name="Image 0" descr="/home/claude/work/iilm_cres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329184"/>
            <a:ext cx="402336" cy="38997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Certificate of Completion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443984" y="1481328"/>
            <a:ext cx="3291840" cy="46542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pic>
        <p:nvPicPr>
          <p:cNvPr id="5" name="Image 0" descr="/home/claude/work/cert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3984" y="1481328"/>
            <a:ext cx="3291840" cy="46542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1356848" y="256032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1" descr="/home/claude/work/iilm_crest_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329184"/>
            <a:ext cx="402336" cy="38997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C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UP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0312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internship provided practical, project-based mastery of the MERN stack — from database design through to a deployable, modern e-commerce application. Beyond the technical stack, it strengthened problem-solving, planning, and independent execution skills that translate directly into industry-ready software development practice.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206240"/>
            <a:ext cx="3657600" cy="0"/>
          </a:xfrm>
          <a:prstGeom prst="line">
            <a:avLst/>
          </a:prstGeom>
          <a:noFill/>
          <a:ln w="25400">
            <a:solidFill>
              <a:srgbClr val="E9456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4389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· Express.js · React.js · Node.js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1356848" y="256032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0" descr="/home/claude/work/iilm_cres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329184"/>
            <a:ext cx="402336" cy="38997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645920"/>
            <a:ext cx="5486400" cy="5486400"/>
          </a:xfrm>
          <a:prstGeom prst="ellipse">
            <a:avLst/>
          </a:prstGeom>
          <a:solidFill>
            <a:srgbClr val="0F3460">
              <a:alpha val="6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5603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611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Bhaskar Singh  |  CS-23411470  |  B.Tech CSE, 7th Semester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0233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  ·  MERN Full Stack Development With Project Virtual Internship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356848" y="256032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/home/claude/work/iilm_cres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329184"/>
            <a:ext cx="402336" cy="38997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2026-09-01T16:26:13Z</dcterms:created>
  <dcterms:modified xsi:type="dcterms:W3CDTF">2026-09-01T16:26:13Z</dcterms:modified>
</cp:coreProperties>
</file>